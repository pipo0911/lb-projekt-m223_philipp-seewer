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Steam Library Manager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0E0EF"/>
                </a:solidFill>
              </a:defRPr>
            </a:pPr>
            <a:r>
              <a:t>JWT Authentication &amp; RBAC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0E0EF"/>
                </a:solidFill>
              </a:defRPr>
            </a:pPr>
            <a:r>
              <a:t>M223 Projekt | Philipp Seewer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743200" cy="73152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2560320" cy="82296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19" y="1325880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Spring Boot 3</a:t>
            </a:r>
          </a:p>
        </p:txBody>
      </p:sp>
      <p:sp>
        <p:nvSpPr>
          <p:cNvPr id="5" name="Rectangle 4"/>
          <p:cNvSpPr/>
          <p:nvPr/>
        </p:nvSpPr>
        <p:spPr>
          <a:xfrm>
            <a:off x="3383280" y="1188720"/>
            <a:ext cx="2560320" cy="82296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0" y="1325880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React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188720"/>
            <a:ext cx="2560320" cy="82296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325880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JWT + BCrypt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377440"/>
            <a:ext cx="2560320" cy="822960"/>
          </a:xfrm>
          <a:prstGeom prst="rect">
            <a:avLst/>
          </a:prstGeom>
          <a:solidFill>
            <a:srgbClr val="90E0EF"/>
          </a:solidFill>
          <a:ln>
            <a:solidFill>
              <a:srgbClr val="90E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19" y="2514600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MySQL 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377440"/>
            <a:ext cx="2560320" cy="82296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514600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JPA/Hibernate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377440"/>
            <a:ext cx="2560320" cy="822960"/>
          </a:xfrm>
          <a:prstGeom prst="rect">
            <a:avLst/>
          </a:prstGeom>
          <a:solidFill>
            <a:srgbClr val="90E0EF"/>
          </a:solidFill>
          <a:ln>
            <a:solidFill>
              <a:srgbClr val="90E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514600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TailwindCSS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560320" cy="1645920"/>
          </a:xfrm>
          <a:prstGeom prst="rect">
            <a:avLst/>
          </a:prstGeom>
          <a:solidFill>
            <a:srgbClr val="CADCFC"/>
          </a:solidFill>
          <a:ln w="254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2761"/>
                </a:solidFill>
              </a:defRPr>
            </a:pPr>
            <a:r>
              <a:t>React 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E2761"/>
                </a:solidFill>
              </a:defRPr>
            </a:pPr>
            <a:r>
              <a:t>AuthContext</a:t>
            </a:r>
          </a:p>
          <a:p>
            <a:r>
              <a:t>JWT Storage</a:t>
            </a:r>
          </a:p>
          <a:p>
            <a:r>
              <a:t>Games UI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371600"/>
            <a:ext cx="2560320" cy="1645920"/>
          </a:xfrm>
          <a:prstGeom prst="rect">
            <a:avLst/>
          </a:prstGeom>
          <a:solidFill>
            <a:srgbClr val="CADCFC"/>
          </a:solidFill>
          <a:ln w="254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50876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2761"/>
                </a:solidFill>
              </a:defRPr>
            </a:pPr>
            <a:r>
              <a:t>Spring Boot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96596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E2761"/>
                </a:solidFill>
              </a:defRPr>
            </a:pPr>
            <a:r>
              <a:t>JWT Validation</a:t>
            </a:r>
          </a:p>
          <a:p>
            <a:r>
              <a:t>RBAC</a:t>
            </a:r>
          </a:p>
          <a:p>
            <a:r>
              <a:t>Game 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371600"/>
            <a:ext cx="2560320" cy="1645920"/>
          </a:xfrm>
          <a:prstGeom prst="rect">
            <a:avLst/>
          </a:prstGeom>
          <a:solidFill>
            <a:srgbClr val="CADCFC"/>
          </a:solidFill>
          <a:ln w="254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50876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2761"/>
                </a:solidFill>
              </a:defRPr>
            </a:pPr>
            <a:r>
              <a:t>MySQL Database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96596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E2761"/>
                </a:solidFill>
              </a:defRPr>
            </a:pPr>
            <a:r>
              <a:t>Users</a:t>
            </a:r>
          </a:p>
          <a:p>
            <a:r>
              <a:t>Games</a:t>
            </a:r>
          </a:p>
          <a:p>
            <a:r>
              <a:t>Roles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JWT Authentication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7680960" cy="411480"/>
          </a:xfrm>
          <a:prstGeom prst="rect">
            <a:avLst/>
          </a:prstGeom>
          <a:solidFill>
            <a:srgbClr val="90E0EF"/>
          </a:solidFill>
          <a:ln>
            <a:solidFill>
              <a:srgbClr val="90E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2761"/>
                </a:solidFill>
              </a:defRPr>
            </a:pPr>
            <a:r>
              <a:t>1. Login Request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459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B4D8"/>
                </a:solidFill>
              </a:defRPr>
            </a:pPr>
            <a:r>
              <a:t>↓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7680960" cy="411480"/>
          </a:xfrm>
          <a:prstGeom prst="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2761"/>
                </a:solidFill>
              </a:defRPr>
            </a:pPr>
            <a:r>
              <a:t>2. Verify Credentials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1488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B4D8"/>
                </a:solidFill>
              </a:defRPr>
            </a:pPr>
            <a: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94560"/>
            <a:ext cx="7680960" cy="411480"/>
          </a:xfrm>
          <a:prstGeom prst="rect">
            <a:avLst/>
          </a:prstGeom>
          <a:solidFill>
            <a:srgbClr val="90E0EF"/>
          </a:solidFill>
          <a:ln>
            <a:solidFill>
              <a:srgbClr val="90E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402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2761"/>
                </a:solidFill>
              </a:defRPr>
            </a:pPr>
            <a:r>
              <a:t>3. Generate JWT Token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6517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B4D8"/>
                </a:solidFill>
              </a:defRPr>
            </a:pPr>
            <a: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697480"/>
            <a:ext cx="7680960" cy="411480"/>
          </a:xfrm>
          <a:prstGeom prst="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74320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2761"/>
                </a:solidFill>
              </a:defRPr>
            </a:pPr>
            <a:r>
              <a:t>4. Store in localStorage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1546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B4D8"/>
                </a:solidFill>
              </a:defRPr>
            </a:pPr>
            <a:r>
              <a:t>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200400"/>
            <a:ext cx="7680960" cy="411480"/>
          </a:xfrm>
          <a:prstGeom prst="rect">
            <a:avLst/>
          </a:prstGeom>
          <a:solidFill>
            <a:srgbClr val="90E0EF"/>
          </a:solidFill>
          <a:ln>
            <a:solidFill>
              <a:srgbClr val="90E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2461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2761"/>
                </a:solidFill>
              </a:defRPr>
            </a:pPr>
            <a:r>
              <a:t>5. Send Token in Header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6576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B4D8"/>
                </a:solidFill>
              </a:defRPr>
            </a:pPr>
            <a:r>
              <a:t>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703320"/>
            <a:ext cx="7680960" cy="411480"/>
          </a:xfrm>
          <a:prstGeom prst="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749039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2761"/>
                </a:solidFill>
              </a:defRPr>
            </a:pPr>
            <a:r>
              <a:t>6. Validate &amp; Extract Roles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Role-Based Access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188720"/>
            <a:ext cx="237744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Operation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188720"/>
            <a:ext cx="237744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23444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ROLE_USER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188720"/>
            <a:ext cx="237744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79" y="123444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ROLE_ADMIN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1737360"/>
            <a:ext cx="2377440" cy="45720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E2761"/>
                </a:solidFill>
              </a:defRPr>
            </a:pPr>
            <a:r>
              <a:t>GET /games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1737360"/>
            <a:ext cx="2377440" cy="457200"/>
          </a:xfrm>
          <a:prstGeom prst="rect">
            <a:avLst/>
          </a:prstGeom>
          <a:solidFill>
            <a:srgbClr val="90E0EF"/>
          </a:solidFill>
          <a:ln w="127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E2761"/>
                </a:solidFill>
              </a:defRPr>
            </a:pPr>
            <a: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1737360"/>
            <a:ext cx="2377440" cy="457200"/>
          </a:xfrm>
          <a:prstGeom prst="rect">
            <a:avLst/>
          </a:prstGeom>
          <a:solidFill>
            <a:srgbClr val="90E0EF"/>
          </a:solidFill>
          <a:ln w="127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79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E2761"/>
                </a:solidFill>
              </a:defRPr>
            </a:pPr>
            <a:r>
              <a:t>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286000"/>
            <a:ext cx="2377440" cy="45720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331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E2761"/>
                </a:solidFill>
              </a:defRPr>
            </a:pPr>
            <a:r>
              <a:t>POST /games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2286000"/>
            <a:ext cx="23774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E2761"/>
                </a:solidFill>
              </a:defRPr>
            </a:pPr>
            <a:r>
              <a:t>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286000"/>
            <a:ext cx="2377440" cy="457200"/>
          </a:xfrm>
          <a:prstGeom prst="rect">
            <a:avLst/>
          </a:prstGeom>
          <a:solidFill>
            <a:srgbClr val="90E0EF"/>
          </a:solidFill>
          <a:ln w="127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79" y="2331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E2761"/>
                </a:solidFill>
              </a:defRPr>
            </a:pPr>
            <a:r>
              <a:t>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2834639"/>
            <a:ext cx="2377440" cy="45720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2880359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E2761"/>
                </a:solidFill>
              </a:defRPr>
            </a:pPr>
            <a:r>
              <a:t>PUT /games/:id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0" y="2834639"/>
            <a:ext cx="23774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6160" y="2880359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E2761"/>
                </a:solidFill>
              </a:defRPr>
            </a:pPr>
            <a:r>
              <a:t>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2834639"/>
            <a:ext cx="2377440" cy="457200"/>
          </a:xfrm>
          <a:prstGeom prst="rect">
            <a:avLst/>
          </a:prstGeom>
          <a:solidFill>
            <a:srgbClr val="90E0EF"/>
          </a:solidFill>
          <a:ln w="127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79" y="2880359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E2761"/>
                </a:solidFill>
              </a:defRPr>
            </a:pPr>
            <a: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3383280"/>
            <a:ext cx="2377440" cy="45720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4290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E2761"/>
                </a:solidFill>
              </a:defRPr>
            </a:pPr>
            <a:r>
              <a:t>DELETE /games/:id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0" y="3383280"/>
            <a:ext cx="23774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0" y="34290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E2761"/>
                </a:solidFill>
              </a:defRPr>
            </a:pPr>
            <a:r>
              <a:t>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3383280"/>
            <a:ext cx="2377440" cy="457200"/>
          </a:xfrm>
          <a:prstGeom prst="rect">
            <a:avLst/>
          </a:prstGeom>
          <a:solidFill>
            <a:srgbClr val="90E0EF"/>
          </a:solidFill>
          <a:ln w="127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79" y="34290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E2761"/>
                </a:solidFill>
              </a:defRPr>
            </a:pPr>
            <a:r>
              <a:t>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Features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761"/>
                </a:solidFill>
              </a:defRPr>
            </a:pPr>
            <a:r>
              <a:t>✓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User Registration &amp; Login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Game CRUD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User-specific Games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Responsive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Secure Password 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761"/>
                </a:solidFill>
              </a:defRPr>
            </a:pPr>
            <a:r>
              <a:t>✓ Testing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5544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8 Unit Tests (GameServiceTest)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9202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5 Integration Tests (GameControllerTest)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2860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100% Test Pass Rate (13/13)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6517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RBAC Authorization Testing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017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JWT Token Validation Testing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Database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2743200" cy="36576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id (PK)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username (UNIQUE)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email (UNIQUE)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password (BCrypt)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7180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timestamps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188720"/>
            <a:ext cx="2743200" cy="36576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23444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user_roles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69164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user_id (FK)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01168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role (ROLE_USER/ADMIN)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188720"/>
            <a:ext cx="2743200" cy="365760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23444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games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69164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id (PK)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01168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user_id (FK)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3172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title, steamAppId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5176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playtimeHours, price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97180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• installed, lastPlayed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/>
            </a:pPr>
            <a:r>
              <a:t>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B4D8"/>
                </a:solidFill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ADCFC"/>
                </a:solidFill>
              </a:defRPr>
            </a:pPr>
            <a:r>
              <a:t>localhost:5173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0E0EF"/>
                </a:solidFill>
              </a:defRPr>
            </a:pPr>
            <a:r>
              <a:t>Frontend + Backend + Database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Zusammenfassung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✓ Vollständige JWT-Authentifizierung mit HMAC-SHA256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✓ RBAC mit Spring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✓ Sichere Password-Speicherung (BCrypt)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✓ React Frontend mit Context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✓ Spring Boot REST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✓ 13/13 Tests bestanden (100%)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✓ Production-ready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